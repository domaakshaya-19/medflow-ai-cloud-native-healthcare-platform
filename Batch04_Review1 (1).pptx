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3"/>
  </p:notesMasterIdLst>
  <p:sldIdLst>
    <p:sldId id="262" r:id="rId3"/>
    <p:sldId id="707" r:id="rId4"/>
    <p:sldId id="257" r:id="rId5"/>
    <p:sldId id="903" r:id="rId6"/>
    <p:sldId id="902" r:id="rId7"/>
    <p:sldId id="258" r:id="rId8"/>
    <p:sldId id="259" r:id="rId9"/>
    <p:sldId id="904" r:id="rId10"/>
    <p:sldId id="260" r:id="rId11"/>
    <p:sldId id="90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8/28/2026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F19044B-B5AF-477C-950C-4ED51263438D}" type="slidenum">
              <a:rPr lang="en-US" smtClean="0"/>
              <a:t>4</a:t>
            </a:fld>
            <a:endParaRPr lang="en-US"/>
          </a:p>
        </p:txBody>
      </p:sp>
    </p:spTree>
    <p:extLst>
      <p:ext uri="{BB962C8B-B14F-4D97-AF65-F5344CB8AC3E}">
        <p14:creationId xmlns:p14="http://schemas.microsoft.com/office/powerpoint/2010/main" val="12068290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8/28/2026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8/28/2026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8/28/2026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8/28/2026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8/28/2026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8/28/2026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8/28/2026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8/28/2026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8/28/2026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8/28/2026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8/28/2026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28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28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28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28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28 August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28 August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28 August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28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28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28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28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8/28/2026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28 August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800219"/>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Date&amp; Time</a:t>
            </a:r>
          </a:p>
          <a:p>
            <a:pPr algn="ctr"/>
            <a:r>
              <a:rPr lang="en-IN" sz="2000" b="1" dirty="0">
                <a:solidFill>
                  <a:srgbClr val="FF0000"/>
                </a:solidFill>
                <a:latin typeface="Times New Roman" panose="02020603050405020304" pitchFamily="18" charset="0"/>
                <a:cs typeface="Times New Roman" panose="02020603050405020304" pitchFamily="18" charset="0"/>
              </a:rPr>
              <a:t>Thursday, 20</a:t>
            </a:r>
            <a:r>
              <a:rPr lang="en-IN" sz="2000" b="1" baseline="30000" dirty="0">
                <a:solidFill>
                  <a:srgbClr val="FF0000"/>
                </a:solidFill>
                <a:latin typeface="Times New Roman" panose="02020603050405020304" pitchFamily="18" charset="0"/>
                <a:cs typeface="Times New Roman" panose="02020603050405020304" pitchFamily="18" charset="0"/>
              </a:rPr>
              <a:t>th</a:t>
            </a:r>
            <a:r>
              <a:rPr lang="en-IN" sz="2000" b="1" dirty="0">
                <a:solidFill>
                  <a:srgbClr val="FF0000"/>
                </a:solidFill>
                <a:latin typeface="Times New Roman" panose="02020603050405020304" pitchFamily="18" charset="0"/>
                <a:cs typeface="Times New Roman" panose="02020603050405020304" pitchFamily="18" charset="0"/>
              </a:rPr>
              <a:t> August 2026</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405819153"/>
              </p:ext>
            </p:extLst>
          </p:nvPr>
        </p:nvGraphicFramePr>
        <p:xfrm>
          <a:off x="8193271" y="4898509"/>
          <a:ext cx="3702050" cy="106680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Doma Akshaya – 2420030474</a:t>
                      </a:r>
                    </a:p>
                    <a:p>
                      <a:pPr marL="0" algn="l" defTabSz="914400" rtl="0" eaLnBrk="1" latinLnBrk="0" hangingPunct="1"/>
                      <a:r>
                        <a:rPr lang="en-IN" sz="1600" b="1" kern="1200" dirty="0" err="1">
                          <a:solidFill>
                            <a:schemeClr val="dk1"/>
                          </a:solidFill>
                          <a:latin typeface="Times New Roman" panose="02020603050405020304" pitchFamily="18" charset="0"/>
                          <a:ea typeface="Cambria"/>
                          <a:cs typeface="Times New Roman" panose="02020603050405020304" pitchFamily="18" charset="0"/>
                        </a:rPr>
                        <a:t>Jithyasri</a:t>
                      </a:r>
                      <a:r>
                        <a:rPr lang="en-IN" sz="1600" b="1" kern="1200" dirty="0">
                          <a:solidFill>
                            <a:schemeClr val="dk1"/>
                          </a:solidFill>
                          <a:latin typeface="Times New Roman" panose="02020603050405020304" pitchFamily="18" charset="0"/>
                          <a:ea typeface="Cambria"/>
                          <a:cs typeface="Times New Roman" panose="02020603050405020304" pitchFamily="18" charset="0"/>
                        </a:rPr>
                        <a:t> Sammeta - 2420030586</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kern="1200" dirty="0" err="1">
                          <a:solidFill>
                            <a:schemeClr val="dk1"/>
                          </a:solidFill>
                          <a:latin typeface="Times New Roman" panose="02020603050405020304" pitchFamily="18" charset="0"/>
                          <a:ea typeface="Cambria"/>
                          <a:cs typeface="Times New Roman" panose="02020603050405020304" pitchFamily="18" charset="0"/>
                        </a:rPr>
                        <a:t>Nallapu</a:t>
                      </a:r>
                      <a:r>
                        <a:rPr lang="en-IN" sz="1600" b="1" kern="1200" dirty="0">
                          <a:solidFill>
                            <a:schemeClr val="dk1"/>
                          </a:solidFill>
                          <a:latin typeface="Times New Roman" panose="02020603050405020304" pitchFamily="18" charset="0"/>
                          <a:ea typeface="Cambria"/>
                          <a:cs typeface="Times New Roman" panose="02020603050405020304" pitchFamily="18" charset="0"/>
                        </a:rPr>
                        <a:t> Sreeja - 2420030267</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2382176924"/>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marR="0" lvl="0" indent="0" algn="l" defTabSz="914400" rtl="0" eaLnBrk="1" fontAlgn="auto" latinLnBrk="0" hangingPunct="1">
                        <a:lnSpc>
                          <a:spcPct val="100000"/>
                        </a:lnSpc>
                        <a:spcBef>
                          <a:spcPts val="200"/>
                        </a:spcBef>
                        <a:spcAft>
                          <a:spcPts val="0"/>
                        </a:spcAft>
                        <a:buClrTx/>
                        <a:buSzPts val="810"/>
                        <a:buFontTx/>
                        <a:buNone/>
                        <a:tabLst/>
                        <a:defRPr/>
                      </a:pPr>
                      <a:r>
                        <a:rPr lang="en-US" sz="1400" b="1" dirty="0" err="1">
                          <a:solidFill>
                            <a:schemeClr val="dk1"/>
                          </a:solidFill>
                          <a:latin typeface="Times New Roman" panose="02020603050405020304" pitchFamily="18" charset="0"/>
                          <a:ea typeface="Cambria"/>
                          <a:cs typeface="Times New Roman" panose="02020603050405020304" pitchFamily="18" charset="0"/>
                          <a:sym typeface="Cambria"/>
                        </a:rPr>
                        <a:t>Dr.Neelima</a:t>
                      </a: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 Gogineni</a:t>
                      </a:r>
                    </a:p>
                    <a:p>
                      <a:pPr marL="0" marR="0" lvl="0" indent="0" algn="l" defTabSz="914400" rtl="0" eaLnBrk="1" fontAlgn="auto" latinLnBrk="0" hangingPunct="1">
                        <a:lnSpc>
                          <a:spcPct val="100000"/>
                        </a:lnSpc>
                        <a:spcBef>
                          <a:spcPts val="200"/>
                        </a:spcBef>
                        <a:spcAft>
                          <a:spcPts val="0"/>
                        </a:spcAft>
                        <a:buClrTx/>
                        <a:buSzPts val="810"/>
                        <a:buFontTx/>
                        <a:buNone/>
                        <a:tabLst/>
                        <a:defRPr/>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Associate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Date</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396659" cy="954107"/>
          </a:xfrm>
          <a:prstGeom prst="rect">
            <a:avLst/>
          </a:prstGeom>
          <a:noFill/>
        </p:spPr>
        <p:txBody>
          <a:bodyPr wrap="square">
            <a:spAutoFit/>
          </a:bodyPr>
          <a:lstStyle/>
          <a:p>
            <a:pPr lvl="0" algn="ctr">
              <a:defRPr/>
            </a:pPr>
            <a:r>
              <a:rPr lang="en-US" sz="2800">
                <a:solidFill>
                  <a:schemeClr val="bg1"/>
                </a:solidFill>
                <a:latin typeface="Calibri" panose="020F0502020204030204"/>
                <a:cs typeface="Poppins" pitchFamily="2" charset="77"/>
              </a:rPr>
              <a:t>MedFlow AI – An Agentic Cloud-Native Healthcare Intelligence Platform using Microservices, DevOps and DevSecOps</a:t>
            </a:r>
            <a:endParaRPr kumimoji="0" lang="en-US" sz="28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827511" y="512887"/>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Rectangle 1">
            <a:extLst>
              <a:ext uri="{FF2B5EF4-FFF2-40B4-BE49-F238E27FC236}">
                <a16:creationId xmlns:a16="http://schemas.microsoft.com/office/drawing/2014/main" id="{0EA718A8-5F63-40B3-9E5A-8B839AEB7E10}"/>
              </a:ext>
            </a:extLst>
          </p:cNvPr>
          <p:cNvSpPr/>
          <p:nvPr/>
        </p:nvSpPr>
        <p:spPr>
          <a:xfrm>
            <a:off x="873302" y="1220633"/>
            <a:ext cx="10171417" cy="5262979"/>
          </a:xfrm>
          <a:prstGeom prst="rect">
            <a:avLst/>
          </a:prstGeom>
        </p:spPr>
        <p:txBody>
          <a:bodyPr wrap="square">
            <a:spAutoFit/>
          </a:bodyPr>
          <a:lstStyle/>
          <a:p>
            <a:r>
              <a:rPr lang="en-US" sz="2400" dirty="0"/>
              <a:t>Healthcare organizations use multiple systems for patient management, appointments, medical records, laboratories, pharmacy, billing and emergency services. In many existing systems, these functions are tightly coupled or operate as disconnected applications, making information sharing and coordination difficult.</a:t>
            </a:r>
          </a:p>
          <a:p>
            <a:r>
              <a:rPr lang="en-US" sz="2400" dirty="0"/>
              <a:t>This can lead to:</a:t>
            </a:r>
          </a:p>
          <a:p>
            <a:pPr marL="285750" indent="-285750">
              <a:buFont typeface="Arial" panose="020B0604020202020204" pitchFamily="34" charset="0"/>
              <a:buChar char="•"/>
            </a:pPr>
            <a:r>
              <a:rPr lang="en-US" sz="2400" dirty="0"/>
              <a:t>Fragmented patient information </a:t>
            </a:r>
          </a:p>
          <a:p>
            <a:pPr marL="285750" indent="-285750">
              <a:buFont typeface="Arial" panose="020B0604020202020204" pitchFamily="34" charset="0"/>
              <a:buChar char="•"/>
            </a:pPr>
            <a:r>
              <a:rPr lang="en-US" sz="2400" dirty="0"/>
              <a:t>Inefficient appointment and queue management </a:t>
            </a:r>
          </a:p>
          <a:p>
            <a:pPr marL="285750" indent="-285750">
              <a:buFont typeface="Arial" panose="020B0604020202020204" pitchFamily="34" charset="0"/>
              <a:buChar char="•"/>
            </a:pPr>
            <a:r>
              <a:rPr lang="en-US" sz="2400" dirty="0"/>
              <a:t>Delayed communication between departments </a:t>
            </a:r>
          </a:p>
          <a:p>
            <a:pPr marL="285750" indent="-285750">
              <a:buFont typeface="Arial" panose="020B0604020202020204" pitchFamily="34" charset="0"/>
              <a:buChar char="•"/>
            </a:pPr>
            <a:r>
              <a:rPr lang="en-US" sz="2400" dirty="0"/>
              <a:t>Difficult access to medical and laboratory information </a:t>
            </a:r>
          </a:p>
          <a:p>
            <a:pPr marL="285750" indent="-285750">
              <a:buFont typeface="Arial" panose="020B0604020202020204" pitchFamily="34" charset="0"/>
              <a:buChar char="•"/>
            </a:pPr>
            <a:r>
              <a:rPr lang="en-US" sz="2400" dirty="0"/>
              <a:t>Disconnected pharmacy and billing workflows </a:t>
            </a:r>
          </a:p>
          <a:p>
            <a:pPr marL="285750" indent="-285750">
              <a:buFont typeface="Arial" panose="020B0604020202020204" pitchFamily="34" charset="0"/>
              <a:buChar char="•"/>
            </a:pPr>
            <a:r>
              <a:rPr lang="en-US" sz="2400" dirty="0"/>
              <a:t>Limited personalized nutrition support </a:t>
            </a:r>
          </a:p>
          <a:p>
            <a:pPr marL="285750" indent="-285750">
              <a:buFont typeface="Arial" panose="020B0604020202020204" pitchFamily="34" charset="0"/>
              <a:buChar char="•"/>
            </a:pPr>
            <a:r>
              <a:rPr lang="en-US" sz="2400" dirty="0"/>
              <a:t>Lack of intelligent assistance </a:t>
            </a:r>
          </a:p>
          <a:p>
            <a:pPr marL="285750" indent="-285750">
              <a:buFont typeface="Arial" panose="020B0604020202020204" pitchFamily="34" charset="0"/>
              <a:buChar char="•"/>
            </a:pPr>
            <a:r>
              <a:rPr lang="en-US" sz="2400" dirty="0"/>
              <a:t>Difficulty scaling individual healthcare services</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3"/>
          <a:stretch>
            <a:fillRect/>
          </a:stretch>
        </p:blipFill>
        <p:spPr>
          <a:xfrm>
            <a:off x="10249380" y="0"/>
            <a:ext cx="1942620" cy="622550"/>
          </a:xfrm>
          <a:prstGeom prst="rect">
            <a:avLst/>
          </a:prstGeom>
        </p:spPr>
      </p:pic>
      <p:sp>
        <p:nvSpPr>
          <p:cNvPr id="17" name="Rectangle 13">
            <a:extLst>
              <a:ext uri="{FF2B5EF4-FFF2-40B4-BE49-F238E27FC236}">
                <a16:creationId xmlns:a16="http://schemas.microsoft.com/office/drawing/2014/main" id="{984D6058-9D17-41AD-9455-CCCE551670B1}"/>
              </a:ext>
            </a:extLst>
          </p:cNvPr>
          <p:cNvSpPr>
            <a:spLocks noChangeArrowheads="1"/>
          </p:cNvSpPr>
          <p:nvPr/>
        </p:nvSpPr>
        <p:spPr bwMode="auto">
          <a:xfrm>
            <a:off x="584251" y="1387462"/>
            <a:ext cx="11066975"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a:buFont typeface="Arial" panose="020B0604020202020204" pitchFamily="34" charset="0"/>
              <a:buChar char="•"/>
            </a:pPr>
            <a:r>
              <a:rPr lang="en-IN" sz="2200" dirty="0"/>
              <a:t>Develop a </a:t>
            </a:r>
            <a:r>
              <a:rPr lang="en-IN" sz="2200" b="1" dirty="0"/>
              <a:t>centralized healthcare management platform</a:t>
            </a:r>
            <a:r>
              <a:rPr lang="en-IN" sz="2200" dirty="0"/>
              <a:t>. </a:t>
            </a:r>
          </a:p>
          <a:p>
            <a:pPr marL="285750" lvl="0" indent="-285750">
              <a:buFont typeface="Arial" panose="020B0604020202020204" pitchFamily="34" charset="0"/>
              <a:buChar char="•"/>
            </a:pPr>
            <a:r>
              <a:rPr lang="en-IN" sz="2200" dirty="0"/>
              <a:t>Implement </a:t>
            </a:r>
            <a:r>
              <a:rPr lang="en-IN" sz="2200" b="1" dirty="0"/>
              <a:t>role-based workflows</a:t>
            </a:r>
            <a:r>
              <a:rPr lang="en-IN" sz="2200" dirty="0"/>
              <a:t> for hospital staff and patients. </a:t>
            </a:r>
          </a:p>
          <a:p>
            <a:pPr marL="285750" lvl="0" indent="-285750">
              <a:buFont typeface="Arial" panose="020B0604020202020204" pitchFamily="34" charset="0"/>
              <a:buChar char="•"/>
            </a:pPr>
            <a:r>
              <a:rPr lang="en-IN" sz="2200" dirty="0"/>
              <a:t>Build </a:t>
            </a:r>
            <a:r>
              <a:rPr lang="en-IN" sz="2200" b="1" dirty="0"/>
              <a:t>scalable microservices</a:t>
            </a:r>
            <a:r>
              <a:rPr lang="en-IN" sz="2200" dirty="0"/>
              <a:t> using Java, Spring Boot, Spring Cloud, and PostgreSQL. </a:t>
            </a:r>
          </a:p>
          <a:p>
            <a:pPr marL="285750" lvl="0" indent="-285750">
              <a:buFont typeface="Arial" panose="020B0604020202020204" pitchFamily="34" charset="0"/>
              <a:buChar char="•"/>
            </a:pPr>
            <a:r>
              <a:rPr lang="en-IN" sz="2200" dirty="0"/>
              <a:t>Provide </a:t>
            </a:r>
            <a:r>
              <a:rPr lang="en-IN" sz="2200" b="1" dirty="0"/>
              <a:t>JWT authentication, authorization, and RBAC</a:t>
            </a:r>
            <a:r>
              <a:rPr lang="en-IN" sz="2200" dirty="0"/>
              <a:t>. </a:t>
            </a:r>
          </a:p>
          <a:p>
            <a:pPr marL="285750" lvl="0" indent="-285750">
              <a:buFont typeface="Arial" panose="020B0604020202020204" pitchFamily="34" charset="0"/>
              <a:buChar char="•"/>
            </a:pPr>
            <a:r>
              <a:rPr lang="en-IN" sz="2200" dirty="0"/>
              <a:t>Implement </a:t>
            </a:r>
            <a:r>
              <a:rPr lang="en-IN" sz="2200" b="1" dirty="0"/>
              <a:t>appointments, queues, medical records, lab, pharmacy, billing, notifications, and emergency services</a:t>
            </a:r>
            <a:r>
              <a:rPr lang="en-IN" sz="2200" dirty="0"/>
              <a:t>. </a:t>
            </a:r>
          </a:p>
          <a:p>
            <a:pPr marL="285750" lvl="0" indent="-285750">
              <a:buFont typeface="Arial" panose="020B0604020202020204" pitchFamily="34" charset="0"/>
              <a:buChar char="•"/>
            </a:pPr>
            <a:r>
              <a:rPr lang="en-IN" sz="2200" dirty="0"/>
              <a:t>Integrate </a:t>
            </a:r>
            <a:r>
              <a:rPr lang="en-IN" sz="2200" b="1" dirty="0"/>
              <a:t>Agentic AI</a:t>
            </a:r>
            <a:r>
              <a:rPr lang="en-IN" sz="2200" dirty="0"/>
              <a:t> using Spring AI and Google Gemini. </a:t>
            </a:r>
          </a:p>
          <a:p>
            <a:pPr marL="285750" lvl="0" indent="-285750">
              <a:buFont typeface="Arial" panose="020B0604020202020204" pitchFamily="34" charset="0"/>
              <a:buChar char="•"/>
            </a:pPr>
            <a:r>
              <a:rPr lang="en-IN" sz="2200" dirty="0"/>
              <a:t>Develop </a:t>
            </a:r>
            <a:r>
              <a:rPr lang="en-IN" sz="2200" b="1" dirty="0"/>
              <a:t>AI assistants</a:t>
            </a:r>
            <a:r>
              <a:rPr lang="en-IN" sz="2200" dirty="0"/>
              <a:t> for patients, doctors, pharmacy, billing, emergency, and hospital operations. </a:t>
            </a:r>
          </a:p>
          <a:p>
            <a:pPr marL="285750" lvl="0" indent="-285750">
              <a:buFont typeface="Arial" panose="020B0604020202020204" pitchFamily="34" charset="0"/>
              <a:buChar char="•"/>
            </a:pPr>
            <a:r>
              <a:rPr lang="en-IN" sz="2200" dirty="0"/>
              <a:t>Enable </a:t>
            </a:r>
            <a:r>
              <a:rPr lang="en-IN" sz="2200" b="1" dirty="0"/>
              <a:t>secure AI tool calling</a:t>
            </a:r>
            <a:r>
              <a:rPr lang="en-IN" sz="2200" dirty="0"/>
              <a:t> with authorized backend services. </a:t>
            </a:r>
          </a:p>
          <a:p>
            <a:pPr marL="285750" lvl="0" indent="-285750">
              <a:buFont typeface="Arial" panose="020B0604020202020204" pitchFamily="34" charset="0"/>
              <a:buChar char="•"/>
            </a:pPr>
            <a:r>
              <a:rPr lang="en-IN" sz="2200" dirty="0"/>
              <a:t>Apply </a:t>
            </a:r>
            <a:r>
              <a:rPr lang="en-IN" sz="2200" b="1" dirty="0"/>
              <a:t>DevOps/</a:t>
            </a:r>
            <a:r>
              <a:rPr lang="en-IN" sz="2200" b="1" dirty="0" err="1"/>
              <a:t>DevSecOps</a:t>
            </a:r>
            <a:r>
              <a:rPr lang="en-IN" sz="2200" dirty="0"/>
              <a:t> using GitHub Actions, Docker, Kubernetes, SonarQube, </a:t>
            </a:r>
            <a:r>
              <a:rPr lang="en-IN" sz="2200" dirty="0" err="1"/>
              <a:t>Trivy</a:t>
            </a:r>
            <a:r>
              <a:rPr lang="en-IN" sz="2200" dirty="0"/>
              <a:t>, and OWASP ZAP. </a:t>
            </a:r>
          </a:p>
          <a:p>
            <a:pPr marL="285750" lvl="0" indent="-285750">
              <a:buFont typeface="Arial" panose="020B0604020202020204" pitchFamily="34" charset="0"/>
              <a:buChar char="•"/>
            </a:pPr>
            <a:r>
              <a:rPr lang="en-IN" sz="2200" dirty="0"/>
              <a:t>Implement </a:t>
            </a:r>
            <a:r>
              <a:rPr lang="en-IN" sz="2200" b="1" dirty="0"/>
              <a:t>monitoring and observability</a:t>
            </a:r>
            <a:r>
              <a:rPr lang="en-IN" sz="2200" dirty="0"/>
              <a:t> using Actuator, Prometheus, and Grafana. </a:t>
            </a:r>
          </a:p>
          <a:p>
            <a:pPr marL="285750" lvl="0" indent="-285750">
              <a:buFont typeface="Arial" panose="020B0604020202020204" pitchFamily="34" charset="0"/>
              <a:buChar char="•"/>
            </a:pPr>
            <a:r>
              <a:rPr lang="en-IN" sz="2200" dirty="0"/>
              <a:t>Ensure the platform is </a:t>
            </a:r>
            <a:r>
              <a:rPr lang="en-IN" sz="2200" b="1" dirty="0"/>
              <a:t>secure, scalable, maintainable, and AWS-ready</a:t>
            </a:r>
            <a:r>
              <a:rPr lang="en-IN" sz="2200" dirty="0"/>
              <a:t>.</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3534791499"/>
              </p:ext>
            </p:extLst>
          </p:nvPr>
        </p:nvGraphicFramePr>
        <p:xfrm>
          <a:off x="274646" y="689466"/>
          <a:ext cx="11642705" cy="5788279"/>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794280">
                <a:tc>
                  <a:txBody>
                    <a:bodyPr/>
                    <a:lstStyle/>
                    <a:p>
                      <a:pPr marL="0" algn="l" defTabSz="914400" rtl="0" eaLnBrk="1" latinLnBrk="0" hangingPunct="1"/>
                      <a:r>
                        <a:rPr lang="en-US" sz="1400" dirty="0" err="1"/>
                        <a:t>Dragoni</a:t>
                      </a:r>
                      <a:r>
                        <a:rPr lang="en-US" sz="1400" dirty="0"/>
                        <a:t> et al.</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i="1" dirty="0"/>
                        <a:t>Microservices: Yesterday, Today, and Tomorrow</a:t>
                      </a:r>
                      <a:r>
                        <a:rPr lang="en-US" sz="1400" dirty="0"/>
                        <a:t>, 2017</a:t>
                      </a:r>
                      <a:endParaRPr lang="en-IN" sz="1400" b="1" i="0"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Microservice architectural principles</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Microservices support independent services and modular system design</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US" sz="1400" dirty="0"/>
                        <a:t>Does not focus specifically on integrated intelligent healthcare platforms</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456794">
                <a:tc>
                  <a:txBody>
                    <a:bodyPr/>
                    <a:lstStyle/>
                    <a:p>
                      <a:pPr marL="0" algn="l" defTabSz="914400" rtl="0" eaLnBrk="1" latinLnBrk="0" hangingPunct="1"/>
                      <a:r>
                        <a:rPr lang="en-US" sz="1400" dirty="0"/>
                        <a:t>Silva et al.</a:t>
                      </a:r>
                      <a:endParaRPr lang="en-IN" sz="1400" b="0"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600" i="1" dirty="0"/>
                        <a:t>A Decoupled Health Software Architecture using Microservices and </a:t>
                      </a:r>
                      <a:r>
                        <a:rPr lang="en-US" sz="1600" i="1" dirty="0" err="1"/>
                        <a:t>OpenEHR</a:t>
                      </a:r>
                      <a:r>
                        <a:rPr lang="en-US" sz="1600" i="1" dirty="0"/>
                        <a:t> Archetypes, 2020</a:t>
                      </a:r>
                    </a:p>
                  </a:txBody>
                  <a:tcPr anchor="ct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Microservices + </a:t>
                      </a:r>
                      <a:r>
                        <a:rPr lang="en-US" sz="1400" dirty="0" err="1"/>
                        <a:t>OpenEHR</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Demonstrates reduced coupling in healthcare software</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US" sz="1400" dirty="0"/>
                        <a:t>Focuses mainly on healthcare information architecture rather than AI-assisted workflows</a:t>
                      </a:r>
                      <a:endParaRPr lang="en-US" sz="1400" b="0"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863604">
                <a:tc>
                  <a:txBody>
                    <a:bodyPr/>
                    <a:lstStyle/>
                    <a:p>
                      <a:pPr marL="0" algn="l" defTabSz="914400" rtl="0" eaLnBrk="1" latinLnBrk="0" hangingPunct="1"/>
                      <a:r>
                        <a:rPr lang="en-US" sz="1400" dirty="0" err="1"/>
                        <a:t>Topol</a:t>
                      </a:r>
                      <a:endParaRPr lang="en-IN" sz="1400" b="1"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i="1" dirty="0"/>
                        <a:t>High-performance medicine: The convergence of human and artificial intelligence</a:t>
                      </a:r>
                      <a:r>
                        <a:rPr lang="en-US" sz="1400" dirty="0"/>
                        <a:t>, 2019</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AI in healthcare</a:t>
                      </a:r>
                      <a:endParaRPr lang="en-US" sz="1400" b="0" u="none" kern="1200" dirty="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AI can support clinicians, health systems and patients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US" sz="1400" dirty="0"/>
                        <a:t>Highlights concerns around privacy, bias and transparency</a:t>
                      </a:r>
                      <a:endParaRPr lang="en-US" sz="1400" b="1"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r h="978962">
                <a:tc>
                  <a:txBody>
                    <a:bodyPr/>
                    <a:lstStyle/>
                    <a:p>
                      <a:pPr marL="0" algn="l" defTabSz="914400" rtl="0" eaLnBrk="1" latinLnBrk="0" hangingPunct="1"/>
                      <a:r>
                        <a:rPr lang="en-US" sz="1400" dirty="0"/>
                        <a:t>Chen et al.</a:t>
                      </a:r>
                      <a:endParaRPr lang="en-IN" sz="1400" b="1"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i="1" dirty="0"/>
                        <a:t>Personalized Food Recommendation as Constrained Question Answering over a Large-scale Food Knowledge Graph</a:t>
                      </a:r>
                      <a:r>
                        <a:rPr lang="en-US" sz="1400" dirty="0"/>
                        <a:t>, 2021</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Food knowledge graph + constrained recommendation</a:t>
                      </a:r>
                      <a:endParaRPr lang="en-US" sz="1400" b="0" u="none" kern="1200" dirty="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Personalized recommendations can consider dietary preferences and health requirements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US" sz="1400" dirty="0"/>
                        <a:t>Focuses on food recommendation rather than integration with hospital services</a:t>
                      </a:r>
                      <a:endParaRPr lang="en-US" sz="1400" b="1"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440159249"/>
                  </a:ext>
                </a:extLst>
              </a:tr>
              <a:tr h="978962">
                <a:tc>
                  <a:txBody>
                    <a:bodyPr/>
                    <a:lstStyle/>
                    <a:p>
                      <a:pPr marL="0" algn="l" defTabSz="914400" rtl="0" eaLnBrk="1" latinLnBrk="0" hangingPunct="1"/>
                      <a:r>
                        <a:rPr lang="en-US" sz="1400" dirty="0"/>
                        <a:t>Ma et al.</a:t>
                      </a:r>
                      <a:endParaRPr lang="en-IN" sz="1400" b="1"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i="1" dirty="0"/>
                        <a:t>Nutrition-Related Knowledge Graph Neural Network for Food Recommendation</a:t>
                      </a:r>
                      <a:r>
                        <a:rPr lang="en-US" sz="1400" dirty="0"/>
                        <a:t>, 2024</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Knowledge graph + GCN</a:t>
                      </a:r>
                      <a:endParaRPr lang="en-US" sz="1400" b="0" u="none" kern="1200" dirty="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Combines nutritional information with user preferences for personalized recommendations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US" sz="1400" dirty="0"/>
                        <a:t>Primarily focuses on food recommendation rather than complete healthcare workflows</a:t>
                      </a:r>
                      <a:endParaRPr lang="en-US" sz="1400" b="1"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1756250102"/>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F64FE548-91E5-435E-9EF9-981858F81631}"/>
              </a:ext>
            </a:extLst>
          </p:cNvPr>
          <p:cNvSpPr txBox="1"/>
          <p:nvPr/>
        </p:nvSpPr>
        <p:spPr>
          <a:xfrm>
            <a:off x="585788" y="1614488"/>
            <a:ext cx="11072812" cy="4401205"/>
          </a:xfrm>
          <a:prstGeom prst="rect">
            <a:avLst/>
          </a:prstGeom>
          <a:noFill/>
        </p:spPr>
        <p:txBody>
          <a:bodyPr wrap="square" rtlCol="0">
            <a:spAutoFit/>
          </a:bodyPr>
          <a:lstStyle/>
          <a:p>
            <a:pPr marL="285750" indent="-285750">
              <a:buFont typeface="Arial" panose="020B0604020202020204" pitchFamily="34" charset="0"/>
              <a:buChar char="•"/>
            </a:pPr>
            <a:r>
              <a:rPr lang="en-US" sz="2800" dirty="0"/>
              <a:t>Fragmented healthcare systems</a:t>
            </a:r>
          </a:p>
          <a:p>
            <a:pPr marL="285750" indent="-285750">
              <a:buFont typeface="Arial" panose="020B0604020202020204" pitchFamily="34" charset="0"/>
              <a:buChar char="•"/>
            </a:pPr>
            <a:r>
              <a:rPr lang="en-US" sz="2800" dirty="0"/>
              <a:t>Manual coordination</a:t>
            </a:r>
          </a:p>
          <a:p>
            <a:pPr marL="285750" indent="-285750">
              <a:buFont typeface="Arial" panose="020B0604020202020204" pitchFamily="34" charset="0"/>
              <a:buChar char="•"/>
            </a:pPr>
            <a:r>
              <a:rPr lang="en-US" sz="2800" dirty="0"/>
              <a:t>Limited intelligent assistance</a:t>
            </a:r>
          </a:p>
          <a:p>
            <a:pPr marL="285750" indent="-285750">
              <a:buFont typeface="Arial" panose="020B0604020202020204" pitchFamily="34" charset="0"/>
              <a:buChar char="•"/>
            </a:pPr>
            <a:r>
              <a:rPr lang="en-US" sz="2800" dirty="0"/>
              <a:t>Inefficient appointment and queue management</a:t>
            </a:r>
          </a:p>
          <a:p>
            <a:pPr marL="285750" indent="-285750">
              <a:buFont typeface="Arial" panose="020B0604020202020204" pitchFamily="34" charset="0"/>
              <a:buChar char="•"/>
            </a:pPr>
            <a:r>
              <a:rPr lang="en-US" sz="2800" dirty="0"/>
              <a:t>Difficult medical information interpretation</a:t>
            </a:r>
          </a:p>
          <a:p>
            <a:pPr marL="285750" indent="-285750">
              <a:buFont typeface="Arial" panose="020B0604020202020204" pitchFamily="34" charset="0"/>
              <a:buChar char="•"/>
            </a:pPr>
            <a:r>
              <a:rPr lang="en-US" sz="2800" dirty="0"/>
              <a:t>Limited operational intelligence</a:t>
            </a:r>
          </a:p>
          <a:p>
            <a:pPr marL="285750" indent="-285750">
              <a:buFont typeface="Arial" panose="020B0604020202020204" pitchFamily="34" charset="0"/>
              <a:buChar char="•"/>
            </a:pPr>
            <a:r>
              <a:rPr lang="en-US" sz="2800" dirty="0"/>
              <a:t>Weak integration of AI with enterprise systems</a:t>
            </a:r>
          </a:p>
          <a:p>
            <a:pPr marL="285750" indent="-285750">
              <a:buFont typeface="Arial" panose="020B0604020202020204" pitchFamily="34" charset="0"/>
              <a:buChar char="•"/>
            </a:pPr>
            <a:r>
              <a:rPr lang="en-US" sz="2800" dirty="0"/>
              <a:t>Scalability and maintainability challenges</a:t>
            </a:r>
          </a:p>
          <a:p>
            <a:pPr marL="285750" indent="-285750">
              <a:buFont typeface="Arial" panose="020B0604020202020204" pitchFamily="34" charset="0"/>
              <a:buChar char="•"/>
            </a:pPr>
            <a:r>
              <a:rPr lang="en-US" sz="2800" dirty="0"/>
              <a:t>Security and reliability concerns</a:t>
            </a:r>
          </a:p>
          <a:p>
            <a:pPr marL="285750" indent="-285750">
              <a:buFont typeface="Arial" panose="020B0604020202020204" pitchFamily="34" charset="0"/>
              <a:buChar char="•"/>
            </a:pPr>
            <a:r>
              <a:rPr lang="en-US" sz="2800" dirty="0"/>
              <a:t>Need for human-supervised AI</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8FBDAEB9-42F8-458E-83F3-6FBE0D74FB99}"/>
              </a:ext>
            </a:extLst>
          </p:cNvPr>
          <p:cNvSpPr txBox="1"/>
          <p:nvPr/>
        </p:nvSpPr>
        <p:spPr>
          <a:xfrm>
            <a:off x="453023" y="1267712"/>
            <a:ext cx="11285951" cy="5293757"/>
          </a:xfrm>
          <a:prstGeom prst="rect">
            <a:avLst/>
          </a:prstGeom>
          <a:noFill/>
        </p:spPr>
        <p:txBody>
          <a:bodyPr wrap="square" rtlCol="0">
            <a:spAutoFit/>
          </a:bodyPr>
          <a:lstStyle/>
          <a:p>
            <a:r>
              <a:rPr lang="en-US" sz="2000" b="1" dirty="0"/>
              <a:t>1. SOA-Based Healthcare Architecture</a:t>
            </a:r>
          </a:p>
          <a:p>
            <a:r>
              <a:rPr lang="en-US" sz="2000" dirty="0"/>
              <a:t>Healthcare functions are divided into independent services instead of implementing the entire system as one monolithic application.</a:t>
            </a:r>
          </a:p>
          <a:p>
            <a:r>
              <a:rPr lang="en-US" sz="2000" b="1" dirty="0"/>
              <a:t>2. Agentic AI Instead of a Basic Chatbot</a:t>
            </a:r>
          </a:p>
          <a:p>
            <a:r>
              <a:rPr lang="en-US" sz="2000" dirty="0"/>
              <a:t>The AI does not simply generate text.</a:t>
            </a:r>
          </a:p>
          <a:p>
            <a:r>
              <a:rPr lang="en-US" sz="2000" dirty="0"/>
              <a:t>It can:</a:t>
            </a:r>
          </a:p>
          <a:p>
            <a:r>
              <a:rPr lang="en-US" sz="2000" b="1" dirty="0">
                <a:highlight>
                  <a:srgbClr val="FFFF00"/>
                </a:highlight>
              </a:rPr>
              <a:t>User Request → AI Orchestrator → Agent Selection → Controlled Tool → Healthcare Service → Response</a:t>
            </a:r>
            <a:endParaRPr lang="en-US" sz="2000" dirty="0">
              <a:highlight>
                <a:srgbClr val="FFFF00"/>
              </a:highlight>
            </a:endParaRPr>
          </a:p>
          <a:p>
            <a:r>
              <a:rPr lang="en-US" sz="2000" b="1" dirty="0"/>
              <a:t>3. Specialized AI Agents</a:t>
            </a:r>
          </a:p>
          <a:p>
            <a:pPr marL="342900" indent="-342900">
              <a:buFont typeface="Arial" panose="020B0604020202020204" pitchFamily="34" charset="0"/>
              <a:buChar char="•"/>
            </a:pPr>
            <a:r>
              <a:rPr lang="en-US" sz="2000" dirty="0"/>
              <a:t>Patient Agent </a:t>
            </a:r>
          </a:p>
          <a:p>
            <a:pPr marL="342900" indent="-342900">
              <a:buFont typeface="Arial" panose="020B0604020202020204" pitchFamily="34" charset="0"/>
              <a:buChar char="•"/>
            </a:pPr>
            <a:r>
              <a:rPr lang="en-US" sz="2000" dirty="0"/>
              <a:t>Doctor Agent </a:t>
            </a:r>
          </a:p>
          <a:p>
            <a:pPr marL="342900" indent="-342900">
              <a:buFont typeface="Arial" panose="020B0604020202020204" pitchFamily="34" charset="0"/>
              <a:buChar char="•"/>
            </a:pPr>
            <a:r>
              <a:rPr lang="en-US" sz="2000" dirty="0"/>
              <a:t>Emergency Agent </a:t>
            </a:r>
          </a:p>
          <a:p>
            <a:pPr marL="342900" indent="-342900">
              <a:buFont typeface="Arial" panose="020B0604020202020204" pitchFamily="34" charset="0"/>
              <a:buChar char="•"/>
            </a:pPr>
            <a:r>
              <a:rPr lang="en-US" sz="2000" dirty="0"/>
              <a:t>Pharmacy Agent </a:t>
            </a:r>
          </a:p>
          <a:p>
            <a:pPr marL="342900" indent="-342900">
              <a:buFont typeface="Arial" panose="020B0604020202020204" pitchFamily="34" charset="0"/>
              <a:buChar char="•"/>
            </a:pPr>
            <a:r>
              <a:rPr lang="en-US" sz="2000" dirty="0"/>
              <a:t>Billing Agent </a:t>
            </a:r>
          </a:p>
          <a:p>
            <a:pPr marL="342900" indent="-342900">
              <a:buFont typeface="Arial" panose="020B0604020202020204" pitchFamily="34" charset="0"/>
              <a:buChar char="•"/>
            </a:pPr>
            <a:r>
              <a:rPr lang="en-US" sz="2000" dirty="0"/>
              <a:t>Hospital Operations Agent </a:t>
            </a:r>
          </a:p>
          <a:p>
            <a:pPr marL="342900" indent="-342900">
              <a:buFont typeface="Arial" panose="020B0604020202020204" pitchFamily="34" charset="0"/>
              <a:buChar char="•"/>
            </a:pPr>
            <a:r>
              <a:rPr lang="en-US" sz="2000" dirty="0"/>
              <a:t>Nutrition &amp; Recovery Agent </a:t>
            </a:r>
          </a:p>
          <a:p>
            <a:endParaRPr lang="en-US" dirty="0"/>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8FBDAEB9-42F8-458E-83F3-6FBE0D74FB99}"/>
              </a:ext>
            </a:extLst>
          </p:cNvPr>
          <p:cNvSpPr txBox="1"/>
          <p:nvPr/>
        </p:nvSpPr>
        <p:spPr>
          <a:xfrm>
            <a:off x="453024" y="751344"/>
            <a:ext cx="11318429" cy="5355312"/>
          </a:xfrm>
          <a:prstGeom prst="rect">
            <a:avLst/>
          </a:prstGeom>
          <a:noFill/>
        </p:spPr>
        <p:txBody>
          <a:bodyPr wrap="square" rtlCol="0">
            <a:spAutoFit/>
          </a:bodyPr>
          <a:lstStyle/>
          <a:p>
            <a:r>
              <a:rPr lang="en-US" b="1" dirty="0"/>
              <a:t>4. Nutrition as an Independent Service</a:t>
            </a:r>
          </a:p>
          <a:p>
            <a:r>
              <a:rPr lang="en-US" dirty="0"/>
              <a:t>Nutrition is not just an AI prompt.</a:t>
            </a:r>
          </a:p>
          <a:p>
            <a:r>
              <a:rPr lang="en-US" dirty="0"/>
              <a:t>It has its own:</a:t>
            </a:r>
          </a:p>
          <a:p>
            <a:pPr marL="285750" indent="-285750">
              <a:buFont typeface="Arial" panose="020B0604020202020204" pitchFamily="34" charset="0"/>
              <a:buChar char="•"/>
            </a:pPr>
            <a:r>
              <a:rPr lang="en-US" dirty="0"/>
              <a:t>Nutrition profile </a:t>
            </a:r>
          </a:p>
          <a:p>
            <a:pPr marL="285750" indent="-285750">
              <a:buFont typeface="Arial" panose="020B0604020202020204" pitchFamily="34" charset="0"/>
              <a:buChar char="•"/>
            </a:pPr>
            <a:r>
              <a:rPr lang="en-US" dirty="0"/>
              <a:t>Food database </a:t>
            </a:r>
          </a:p>
          <a:p>
            <a:pPr marL="285750" indent="-285750">
              <a:buFont typeface="Arial" panose="020B0604020202020204" pitchFamily="34" charset="0"/>
              <a:buChar char="•"/>
            </a:pPr>
            <a:r>
              <a:rPr lang="en-US" dirty="0"/>
              <a:t>Dietary preferences </a:t>
            </a:r>
          </a:p>
          <a:p>
            <a:pPr marL="285750" indent="-285750">
              <a:buFont typeface="Arial" panose="020B0604020202020204" pitchFamily="34" charset="0"/>
              <a:buChar char="•"/>
            </a:pPr>
            <a:r>
              <a:rPr lang="en-US" dirty="0"/>
              <a:t>Allergy information </a:t>
            </a:r>
          </a:p>
          <a:p>
            <a:pPr marL="285750" indent="-285750">
              <a:buFont typeface="Arial" panose="020B0604020202020204" pitchFamily="34" charset="0"/>
              <a:buChar char="•"/>
            </a:pPr>
            <a:r>
              <a:rPr lang="en-US" dirty="0"/>
              <a:t>Recommendation engine </a:t>
            </a:r>
          </a:p>
          <a:p>
            <a:pPr marL="285750" indent="-285750">
              <a:buFont typeface="Arial" panose="020B0604020202020204" pitchFamily="34" charset="0"/>
              <a:buChar char="•"/>
            </a:pPr>
            <a:r>
              <a:rPr lang="en-US" dirty="0"/>
              <a:t>Meal plans </a:t>
            </a:r>
          </a:p>
          <a:p>
            <a:pPr marL="285750" indent="-285750">
              <a:buFont typeface="Arial" panose="020B0604020202020204" pitchFamily="34" charset="0"/>
              <a:buChar char="•"/>
            </a:pPr>
            <a:r>
              <a:rPr lang="en-US" dirty="0"/>
              <a:t>Recovery plans </a:t>
            </a:r>
          </a:p>
          <a:p>
            <a:pPr marL="285750" indent="-285750">
              <a:buFont typeface="Arial" panose="020B0604020202020204" pitchFamily="34" charset="0"/>
              <a:buChar char="•"/>
            </a:pPr>
            <a:r>
              <a:rPr lang="en-US" dirty="0"/>
              <a:t>Progress tracking </a:t>
            </a:r>
          </a:p>
          <a:p>
            <a:r>
              <a:rPr lang="en-US" b="1" dirty="0"/>
              <a:t>5. AI and Business Logic Separation</a:t>
            </a:r>
          </a:p>
          <a:p>
            <a:r>
              <a:rPr lang="en-US" dirty="0"/>
              <a:t>The AI cannot directly access databases.</a:t>
            </a:r>
          </a:p>
          <a:p>
            <a:r>
              <a:rPr lang="en-US" dirty="0"/>
              <a:t>Instead:</a:t>
            </a:r>
          </a:p>
          <a:p>
            <a:r>
              <a:rPr lang="en-US" b="1" dirty="0">
                <a:highlight>
                  <a:srgbClr val="FFFF00"/>
                </a:highlight>
              </a:rPr>
              <a:t>AI → Controlled Tool → Service API → Database</a:t>
            </a:r>
            <a:endParaRPr lang="en-US" dirty="0">
              <a:highlight>
                <a:srgbClr val="FFFF00"/>
              </a:highlight>
            </a:endParaRPr>
          </a:p>
          <a:p>
            <a:r>
              <a:rPr lang="en-US" dirty="0"/>
              <a:t>This is an important architectural feature.</a:t>
            </a:r>
          </a:p>
          <a:p>
            <a:r>
              <a:rPr lang="en-US" b="1" dirty="0"/>
              <a:t>6. Human Oversight</a:t>
            </a:r>
          </a:p>
          <a:p>
            <a:r>
              <a:rPr lang="en-US" dirty="0"/>
              <a:t>AI provides </a:t>
            </a:r>
            <a:r>
              <a:rPr lang="en-US" b="1" dirty="0"/>
              <a:t>decision support</a:t>
            </a:r>
            <a:r>
              <a:rPr lang="en-US" dirty="0"/>
              <a:t>, not autonomous diagnosis, treatment, prescription or payment approval.</a:t>
            </a:r>
          </a:p>
          <a:p>
            <a:endParaRPr lang="en-US" dirty="0"/>
          </a:p>
        </p:txBody>
      </p:sp>
    </p:spTree>
    <p:extLst>
      <p:ext uri="{BB962C8B-B14F-4D97-AF65-F5344CB8AC3E}">
        <p14:creationId xmlns:p14="http://schemas.microsoft.com/office/powerpoint/2010/main" val="2428901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15380" y="551058"/>
            <a:ext cx="7234014" cy="707886"/>
          </a:xfrm>
          <a:prstGeom prst="rect">
            <a:avLst/>
          </a:prstGeom>
          <a:noFill/>
        </p:spPr>
        <p:txBody>
          <a:bodyPr wrap="square">
            <a:spAutoFit/>
          </a:bodyPr>
          <a:lstStyle/>
          <a:p>
            <a:pPr algn="ctr"/>
            <a:r>
              <a:rPr lang="en-US" sz="4000" b="1" dirty="0"/>
              <a:t>Feasibility and Project Plan</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graphicFrame>
        <p:nvGraphicFramePr>
          <p:cNvPr id="3" name="Table 2">
            <a:extLst>
              <a:ext uri="{FF2B5EF4-FFF2-40B4-BE49-F238E27FC236}">
                <a16:creationId xmlns:a16="http://schemas.microsoft.com/office/drawing/2014/main" id="{5BFD75C4-F98E-4D5E-B4BD-3180157F8D5C}"/>
              </a:ext>
            </a:extLst>
          </p:cNvPr>
          <p:cNvGraphicFramePr>
            <a:graphicFrameLocks noGrp="1"/>
          </p:cNvGraphicFramePr>
          <p:nvPr>
            <p:extLst>
              <p:ext uri="{D42A27DB-BD31-4B8C-83A1-F6EECF244321}">
                <p14:modId xmlns:p14="http://schemas.microsoft.com/office/powerpoint/2010/main" val="433630928"/>
              </p:ext>
            </p:extLst>
          </p:nvPr>
        </p:nvGraphicFramePr>
        <p:xfrm>
          <a:off x="838200" y="2538254"/>
          <a:ext cx="10515600" cy="1828800"/>
        </p:xfrm>
        <a:graphic>
          <a:graphicData uri="http://schemas.openxmlformats.org/drawingml/2006/table">
            <a:tbl>
              <a:tblPr/>
              <a:tblGrid>
                <a:gridCol w="5257800">
                  <a:extLst>
                    <a:ext uri="{9D8B030D-6E8A-4147-A177-3AD203B41FA5}">
                      <a16:colId xmlns:a16="http://schemas.microsoft.com/office/drawing/2014/main" val="1890523510"/>
                    </a:ext>
                  </a:extLst>
                </a:gridCol>
                <a:gridCol w="5257800">
                  <a:extLst>
                    <a:ext uri="{9D8B030D-6E8A-4147-A177-3AD203B41FA5}">
                      <a16:colId xmlns:a16="http://schemas.microsoft.com/office/drawing/2014/main" val="306078428"/>
                    </a:ext>
                  </a:extLst>
                </a:gridCol>
              </a:tblGrid>
              <a:tr h="0">
                <a:tc>
                  <a:txBody>
                    <a:bodyPr/>
                    <a:lstStyle/>
                    <a:p>
                      <a:endParaRPr lang="en-US" b="1" dirty="0"/>
                    </a:p>
                  </a:txBody>
                  <a:tcPr anchor="ctr">
                    <a:lnL>
                      <a:noFill/>
                    </a:lnL>
                    <a:lnR>
                      <a:noFill/>
                    </a:lnR>
                    <a:lnT>
                      <a:noFill/>
                    </a:lnT>
                    <a:lnB>
                      <a:noFill/>
                    </a:lnB>
                  </a:tcPr>
                </a:tc>
                <a:tc>
                  <a:txBody>
                    <a:bodyPr/>
                    <a:lstStyle/>
                    <a:p>
                      <a:endParaRPr lang="en-US" b="1" dirty="0"/>
                    </a:p>
                  </a:txBody>
                  <a:tcPr anchor="ctr">
                    <a:lnL>
                      <a:noFill/>
                    </a:lnL>
                    <a:lnR>
                      <a:noFill/>
                    </a:lnR>
                    <a:lnT>
                      <a:noFill/>
                    </a:lnT>
                    <a:lnB>
                      <a:noFill/>
                    </a:lnB>
                  </a:tcPr>
                </a:tc>
                <a:extLst>
                  <a:ext uri="{0D108BD9-81ED-4DB2-BD59-A6C34878D82A}">
                    <a16:rowId xmlns:a16="http://schemas.microsoft.com/office/drawing/2014/main" val="951934643"/>
                  </a:ext>
                </a:extLst>
              </a:tr>
              <a:tr h="0">
                <a:tc>
                  <a:txBody>
                    <a:bodyPr/>
                    <a:lstStyle/>
                    <a:p>
                      <a:endParaRPr lang="en-US"/>
                    </a:p>
                  </a:txBody>
                  <a:tcPr anchor="ctr">
                    <a:lnL>
                      <a:noFill/>
                    </a:lnL>
                    <a:lnR>
                      <a:noFill/>
                    </a:lnR>
                    <a:lnT>
                      <a:noFill/>
                    </a:lnT>
                    <a:lnB>
                      <a:noFill/>
                    </a:lnB>
                  </a:tcPr>
                </a:tc>
                <a:tc>
                  <a:txBody>
                    <a:bodyPr/>
                    <a:lstStyle/>
                    <a:p>
                      <a:endParaRPr lang="en-US"/>
                    </a:p>
                  </a:txBody>
                  <a:tcPr anchor="ctr">
                    <a:lnL>
                      <a:noFill/>
                    </a:lnL>
                    <a:lnR>
                      <a:noFill/>
                    </a:lnR>
                    <a:lnT>
                      <a:noFill/>
                    </a:lnT>
                    <a:lnB>
                      <a:noFill/>
                    </a:lnB>
                  </a:tcPr>
                </a:tc>
                <a:extLst>
                  <a:ext uri="{0D108BD9-81ED-4DB2-BD59-A6C34878D82A}">
                    <a16:rowId xmlns:a16="http://schemas.microsoft.com/office/drawing/2014/main" val="3675922726"/>
                  </a:ext>
                </a:extLst>
              </a:tr>
              <a:tr h="0">
                <a:tc>
                  <a:txBody>
                    <a:bodyPr/>
                    <a:lstStyle/>
                    <a:p>
                      <a:endParaRPr lang="en-US" dirty="0"/>
                    </a:p>
                  </a:txBody>
                  <a:tcPr anchor="ctr">
                    <a:lnL>
                      <a:noFill/>
                    </a:lnL>
                    <a:lnR>
                      <a:noFill/>
                    </a:lnR>
                    <a:lnT>
                      <a:noFill/>
                    </a:lnT>
                    <a:lnB>
                      <a:noFill/>
                    </a:lnB>
                  </a:tcPr>
                </a:tc>
                <a:tc>
                  <a:txBody>
                    <a:bodyPr/>
                    <a:lstStyle/>
                    <a:p>
                      <a:endParaRPr lang="en-US"/>
                    </a:p>
                  </a:txBody>
                  <a:tcPr anchor="ctr">
                    <a:lnL>
                      <a:noFill/>
                    </a:lnL>
                    <a:lnR>
                      <a:noFill/>
                    </a:lnR>
                    <a:lnT>
                      <a:noFill/>
                    </a:lnT>
                    <a:lnB>
                      <a:noFill/>
                    </a:lnB>
                  </a:tcPr>
                </a:tc>
                <a:extLst>
                  <a:ext uri="{0D108BD9-81ED-4DB2-BD59-A6C34878D82A}">
                    <a16:rowId xmlns:a16="http://schemas.microsoft.com/office/drawing/2014/main" val="3468025751"/>
                  </a:ext>
                </a:extLst>
              </a:tr>
              <a:tr h="0">
                <a:tc>
                  <a:txBody>
                    <a:bodyPr/>
                    <a:lstStyle/>
                    <a:p>
                      <a:endParaRPr lang="en-US"/>
                    </a:p>
                  </a:txBody>
                  <a:tcPr anchor="ctr">
                    <a:lnL>
                      <a:noFill/>
                    </a:lnL>
                    <a:lnR>
                      <a:noFill/>
                    </a:lnR>
                    <a:lnT>
                      <a:noFill/>
                    </a:lnT>
                    <a:lnB>
                      <a:noFill/>
                    </a:lnB>
                  </a:tcPr>
                </a:tc>
                <a:tc>
                  <a:txBody>
                    <a:bodyPr/>
                    <a:lstStyle/>
                    <a:p>
                      <a:endParaRPr lang="en-US"/>
                    </a:p>
                  </a:txBody>
                  <a:tcPr anchor="ctr">
                    <a:lnL>
                      <a:noFill/>
                    </a:lnL>
                    <a:lnR>
                      <a:noFill/>
                    </a:lnR>
                    <a:lnT>
                      <a:noFill/>
                    </a:lnT>
                    <a:lnB>
                      <a:noFill/>
                    </a:lnB>
                  </a:tcPr>
                </a:tc>
                <a:extLst>
                  <a:ext uri="{0D108BD9-81ED-4DB2-BD59-A6C34878D82A}">
                    <a16:rowId xmlns:a16="http://schemas.microsoft.com/office/drawing/2014/main" val="1856111642"/>
                  </a:ext>
                </a:extLst>
              </a:tr>
              <a:tr h="0">
                <a:tc>
                  <a:txBody>
                    <a:bodyPr/>
                    <a:lstStyle/>
                    <a:p>
                      <a:endParaRPr lang="en-US"/>
                    </a:p>
                  </a:txBody>
                  <a:tcPr anchor="ctr">
                    <a:lnL>
                      <a:noFill/>
                    </a:lnL>
                    <a:lnR>
                      <a:noFill/>
                    </a:lnR>
                    <a:lnT>
                      <a:noFill/>
                    </a:lnT>
                    <a:lnB>
                      <a:noFill/>
                    </a:lnB>
                  </a:tcPr>
                </a:tc>
                <a:tc>
                  <a:txBody>
                    <a:bodyPr/>
                    <a:lstStyle/>
                    <a:p>
                      <a:endParaRPr lang="en-US" dirty="0"/>
                    </a:p>
                  </a:txBody>
                  <a:tcPr anchor="ctr">
                    <a:lnL>
                      <a:noFill/>
                    </a:lnL>
                    <a:lnR>
                      <a:noFill/>
                    </a:lnR>
                    <a:lnT>
                      <a:noFill/>
                    </a:lnT>
                    <a:lnB>
                      <a:noFill/>
                    </a:lnB>
                  </a:tcPr>
                </a:tc>
                <a:extLst>
                  <a:ext uri="{0D108BD9-81ED-4DB2-BD59-A6C34878D82A}">
                    <a16:rowId xmlns:a16="http://schemas.microsoft.com/office/drawing/2014/main" val="1216133191"/>
                  </a:ext>
                </a:extLst>
              </a:tr>
            </a:tbl>
          </a:graphicData>
        </a:graphic>
      </p:graphicFrame>
      <p:pic>
        <p:nvPicPr>
          <p:cNvPr id="7" name="Picture 6">
            <a:extLst>
              <a:ext uri="{FF2B5EF4-FFF2-40B4-BE49-F238E27FC236}">
                <a16:creationId xmlns:a16="http://schemas.microsoft.com/office/drawing/2014/main" id="{E0CAEFB2-AEBA-8EB1-0CA7-A05041B2BAFC}"/>
              </a:ext>
            </a:extLst>
          </p:cNvPr>
          <p:cNvPicPr>
            <a:picLocks noChangeAspect="1"/>
          </p:cNvPicPr>
          <p:nvPr/>
        </p:nvPicPr>
        <p:blipFill>
          <a:blip r:embed="rId3"/>
          <a:stretch>
            <a:fillRect/>
          </a:stretch>
        </p:blipFill>
        <p:spPr>
          <a:xfrm>
            <a:off x="1409046" y="1456530"/>
            <a:ext cx="9373908" cy="4477375"/>
          </a:xfrm>
          <a:prstGeom prst="rect">
            <a:avLst/>
          </a:prstGeom>
        </p:spPr>
      </p:pic>
    </p:spTree>
    <p:extLst>
      <p:ext uri="{BB962C8B-B14F-4D97-AF65-F5344CB8AC3E}">
        <p14:creationId xmlns:p14="http://schemas.microsoft.com/office/powerpoint/2010/main" val="4118855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15380" y="551058"/>
            <a:ext cx="7234014" cy="707886"/>
          </a:xfrm>
          <a:prstGeom prst="rect">
            <a:avLst/>
          </a:prstGeom>
          <a:noFill/>
        </p:spPr>
        <p:txBody>
          <a:bodyPr wrap="square">
            <a:spAutoFit/>
          </a:bodyPr>
          <a:lstStyle/>
          <a:p>
            <a:pPr algn="ctr"/>
            <a:r>
              <a:rPr lang="en-US" sz="4000" b="1" dirty="0"/>
              <a:t>Feasibility and Project Plan</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pic>
        <p:nvPicPr>
          <p:cNvPr id="3" name="Picture 2">
            <a:extLst>
              <a:ext uri="{FF2B5EF4-FFF2-40B4-BE49-F238E27FC236}">
                <a16:creationId xmlns:a16="http://schemas.microsoft.com/office/drawing/2014/main" id="{0F143821-5F1F-439E-F188-54662E4A6317}"/>
              </a:ext>
            </a:extLst>
          </p:cNvPr>
          <p:cNvPicPr>
            <a:picLocks noChangeAspect="1"/>
          </p:cNvPicPr>
          <p:nvPr/>
        </p:nvPicPr>
        <p:blipFill>
          <a:blip r:embed="rId3"/>
          <a:srcRect b="3607"/>
          <a:stretch>
            <a:fillRect/>
          </a:stretch>
        </p:blipFill>
        <p:spPr>
          <a:xfrm>
            <a:off x="1323260" y="1501744"/>
            <a:ext cx="9383434" cy="2350795"/>
          </a:xfrm>
          <a:prstGeom prst="rect">
            <a:avLst/>
          </a:prstGeom>
        </p:spPr>
      </p:pic>
    </p:spTree>
    <p:extLst>
      <p:ext uri="{BB962C8B-B14F-4D97-AF65-F5344CB8AC3E}">
        <p14:creationId xmlns:p14="http://schemas.microsoft.com/office/powerpoint/2010/main" val="14893861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250</TotalTime>
  <Words>746</Words>
  <Application>Microsoft Office PowerPoint</Application>
  <PresentationFormat>Widescreen</PresentationFormat>
  <Paragraphs>145</Paragraphs>
  <Slides>10</Slides>
  <Notes>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10</vt:i4>
      </vt:variant>
    </vt:vector>
  </HeadingPairs>
  <TitlesOfParts>
    <vt:vector size="18"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srikanth ch</dc:creator>
  <cp:lastModifiedBy>doma akshaya</cp:lastModifiedBy>
  <cp:revision>42</cp:revision>
  <dcterms:created xsi:type="dcterms:W3CDTF">2026-08-08T06:33:56Z</dcterms:created>
  <dcterms:modified xsi:type="dcterms:W3CDTF">2026-08-28T13:47:48Z</dcterms:modified>
</cp:coreProperties>
</file>